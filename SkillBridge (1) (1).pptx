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79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hyperlink" Target="https://github.com/esraasalem2/skill-Bridge-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github.com/esraasalem2/skill-Bridge-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sraasalem2/skill-Bridge-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esraasalem2/skill-Bridge-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228600"/>
            <a:ext cx="960120" cy="9601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77640" y="182880"/>
            <a:ext cx="1188720" cy="10058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274320"/>
            <a:ext cx="1600200" cy="8229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28600" y="1325880"/>
            <a:ext cx="8686800" cy="228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74320" y="1463040"/>
            <a:ext cx="8595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SkillBridge </a:t>
            </a:r>
          </a:p>
        </p:txBody>
      </p:sp>
      <p:sp>
        <p:nvSpPr>
          <p:cNvPr id="10" name="Text 5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PROJECT PRESENTATION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1371600" y="2834640"/>
            <a:ext cx="6400800" cy="1920240"/>
          </a:xfrm>
          <a:prstGeom prst="rect">
            <a:avLst/>
          </a:prstGeom>
          <a:solidFill>
            <a:srgbClr val="0D1F3F"/>
          </a:solidFill>
          <a:ln w="1270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1371600" y="2834640"/>
            <a:ext cx="64008" cy="19202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3" name="Text 8"/>
          <p:cNvSpPr/>
          <p:nvPr>
            <p:custDataLst>
              <p:tags r:id="rId1"/>
            </p:custDataLst>
          </p:nvPr>
        </p:nvSpPr>
        <p:spPr>
          <a:xfrm>
            <a:off x="1508760" y="2907792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/ Job Profile:</a:t>
            </a:r>
            <a:endParaRPr lang="en-US" sz="1000" dirty="0"/>
          </a:p>
        </p:txBody>
      </p:sp>
      <p:sp>
        <p:nvSpPr>
          <p:cNvPr id="14" name="Text 9"/>
          <p:cNvSpPr/>
          <p:nvPr>
            <p:custDataLst>
              <p:tags r:id="rId2"/>
            </p:custDataLst>
          </p:nvPr>
        </p:nvSpPr>
        <p:spPr>
          <a:xfrm>
            <a:off x="2834640" y="2907792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Track | Junior Data Analysis</a:t>
            </a:r>
            <a:endParaRPr lang="en-US" sz="1000" dirty="0"/>
          </a:p>
        </p:txBody>
      </p:sp>
      <p:sp>
        <p:nvSpPr>
          <p:cNvPr id="15" name="Text 10"/>
          <p:cNvSpPr/>
          <p:nvPr>
            <p:custDataLst>
              <p:tags r:id="rId3"/>
            </p:custDataLst>
          </p:nvPr>
        </p:nvSpPr>
        <p:spPr>
          <a:xfrm>
            <a:off x="1508760" y="333756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</a:t>
            </a:r>
            <a:endParaRPr lang="en-US" sz="1000" dirty="0"/>
          </a:p>
        </p:txBody>
      </p:sp>
      <p:sp>
        <p:nvSpPr>
          <p:cNvPr id="16" name="Text 11"/>
          <p:cNvSpPr/>
          <p:nvPr>
            <p:custDataLst>
              <p:tags r:id="rId4"/>
            </p:custDataLst>
          </p:nvPr>
        </p:nvSpPr>
        <p:spPr>
          <a:xfrm>
            <a:off x="2834640" y="333756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LexiTech—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Alaa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Hussien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|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Rasha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Wael | Fatma Ibrahim |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Esraa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Metwally</a:t>
            </a:r>
            <a:endParaRPr lang="en-US" sz="1000" dirty="0"/>
          </a:p>
        </p:txBody>
      </p:sp>
      <p:sp>
        <p:nvSpPr>
          <p:cNvPr id="17" name="Text 12"/>
          <p:cNvSpPr/>
          <p:nvPr>
            <p:custDataLst>
              <p:tags r:id="rId5"/>
            </p:custDataLst>
          </p:nvPr>
        </p:nvSpPr>
        <p:spPr>
          <a:xfrm>
            <a:off x="1508760" y="3767328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</a:t>
            </a:r>
            <a:endParaRPr lang="en-US" sz="1000" dirty="0"/>
          </a:p>
        </p:txBody>
      </p:sp>
      <p:sp>
        <p:nvSpPr>
          <p:cNvPr id="18" name="Text 13"/>
          <p:cNvSpPr/>
          <p:nvPr>
            <p:custDataLst>
              <p:tags r:id="rId6"/>
            </p:custDataLst>
          </p:nvPr>
        </p:nvSpPr>
        <p:spPr>
          <a:xfrm>
            <a:off x="2834640" y="3767328"/>
            <a:ext cx="4800600" cy="5189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Prof. Dr. Rania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Elgohary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| Track Head: Dr. Ahmed Zakaria | </a:t>
            </a:r>
          </a:p>
          <a:p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Team: Dr. Yasser Ali | Instructor: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Eng.Haidy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Seada</a:t>
            </a:r>
            <a:endParaRPr lang="en-US" sz="10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endParaRPr lang="en-US" sz="1000" dirty="0"/>
          </a:p>
        </p:txBody>
      </p:sp>
      <p:sp>
        <p:nvSpPr>
          <p:cNvPr id="19" name="Text 14"/>
          <p:cNvSpPr/>
          <p:nvPr>
            <p:custDataLst>
              <p:tags r:id="rId7"/>
            </p:custDataLst>
          </p:nvPr>
        </p:nvSpPr>
        <p:spPr>
          <a:xfrm>
            <a:off x="1508760" y="4197096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Submission:</a:t>
            </a:r>
            <a:endParaRPr lang="en-US" sz="1000" dirty="0"/>
          </a:p>
        </p:txBody>
      </p:sp>
      <p:sp>
        <p:nvSpPr>
          <p:cNvPr id="20" name="Text 15"/>
          <p:cNvSpPr/>
          <p:nvPr>
            <p:custDataLst>
              <p:tags r:id="rId8"/>
            </p:custDataLst>
          </p:nvPr>
        </p:nvSpPr>
        <p:spPr>
          <a:xfrm>
            <a:off x="2834640" y="4197096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8961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961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8961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8961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Introduction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18105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8105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8680" y="18105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18105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Background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27249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7249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68680" y="27249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27249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 &amp; Scope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0040" y="36393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6393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8680" y="36393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36393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 &amp; Architecture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63440" y="8961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8961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212080" y="8961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0" y="8961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 &amp; Implementation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663440" y="18105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18105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212080" y="18105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03520" y="18105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&amp; Results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663440" y="27249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27249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212080" y="27249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33" name="Text 30"/>
          <p:cNvSpPr/>
          <p:nvPr/>
        </p:nvSpPr>
        <p:spPr>
          <a:xfrm>
            <a:off x="5303520" y="27249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&amp; Future Work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Introduction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7680" y="914400"/>
            <a:ext cx="1554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94030" y="841248"/>
            <a:ext cx="155448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2810" y="100584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31190" y="3051009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60650" y="827532"/>
            <a:ext cx="1554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68270" y="841248"/>
            <a:ext cx="155448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19705" y="1975076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Fatma Ibrahim </a:t>
            </a: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Morsy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31135" y="252212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ar-EG" sz="900" i="1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900" i="1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UI/UX &amp; Dashboard Specialist</a:t>
            </a:r>
          </a:p>
        </p:txBody>
      </p:sp>
      <p:sp>
        <p:nvSpPr>
          <p:cNvPr id="20" name="Shape 17"/>
          <p:cNvSpPr/>
          <p:nvPr/>
        </p:nvSpPr>
        <p:spPr>
          <a:xfrm>
            <a:off x="2822575" y="3053400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13990" y="295097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ar-EG" sz="90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90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Interface Design, Dashboard Layout, and Visual Analytics</a:t>
            </a:r>
          </a:p>
        </p:txBody>
      </p:sp>
      <p:sp>
        <p:nvSpPr>
          <p:cNvPr id="22" name="Shape 19"/>
          <p:cNvSpPr/>
          <p:nvPr/>
        </p:nvSpPr>
        <p:spPr>
          <a:xfrm>
            <a:off x="4975860" y="841248"/>
            <a:ext cx="1554480" cy="3511296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982210" y="841248"/>
            <a:ext cx="155448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15230" y="1979676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Rasha</a:t>
            </a: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Wael Ramadan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15230" y="249174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ar-EG" sz="900" i="1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900" i="1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BI &amp; Dashboard Specialist</a:t>
            </a:r>
          </a:p>
        </p:txBody>
      </p:sp>
      <p:sp>
        <p:nvSpPr>
          <p:cNvPr id="28" name="Shape 25"/>
          <p:cNvSpPr/>
          <p:nvPr/>
        </p:nvSpPr>
        <p:spPr>
          <a:xfrm>
            <a:off x="5068570" y="3056106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15230" y="2955798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ar-EG" sz="90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90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Data Preparation, Power BI Modeling, DAX Measures, and Documentation</a:t>
            </a:r>
          </a:p>
        </p:txBody>
      </p:sp>
      <p:sp>
        <p:nvSpPr>
          <p:cNvPr id="30" name="Shape 27"/>
          <p:cNvSpPr/>
          <p:nvPr/>
        </p:nvSpPr>
        <p:spPr>
          <a:xfrm>
            <a:off x="7181850" y="905256"/>
            <a:ext cx="1554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181850" y="841248"/>
            <a:ext cx="155448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5935" y="19558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Esraa</a:t>
            </a: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Metwally</a:t>
            </a: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Abo </a:t>
            </a: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Elnasr</a:t>
            </a: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39750" y="2437853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i="1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900" i="1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Project Coordinator &amp; Dashboard Specialist</a:t>
            </a:r>
          </a:p>
        </p:txBody>
      </p:sp>
      <p:sp>
        <p:nvSpPr>
          <p:cNvPr id="36" name="Shape 33"/>
          <p:cNvSpPr/>
          <p:nvPr/>
        </p:nvSpPr>
        <p:spPr>
          <a:xfrm>
            <a:off x="7332980" y="3051009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6100" y="288747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ar-EG" sz="90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90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Project Management, Dashboard Development, Presentation, and Reporting</a:t>
            </a:r>
          </a:p>
        </p:txBody>
      </p:sp>
      <p:sp>
        <p:nvSpPr>
          <p:cNvPr id="41" name="Text 38"/>
          <p:cNvSpPr/>
          <p:nvPr/>
        </p:nvSpPr>
        <p:spPr>
          <a:xfrm>
            <a:off x="7589520" y="100584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6" name="Shape 43"/>
          <p:cNvSpPr/>
          <p:nvPr/>
        </p:nvSpPr>
        <p:spPr>
          <a:xfrm>
            <a:off x="256032" y="4361688"/>
            <a:ext cx="8641080" cy="43891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365760" y="4379976"/>
            <a:ext cx="8412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Dr. Rania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Elgohary</a:t>
            </a:r>
            <a:r>
              <a:rPr lang="en-US" sz="12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/ Track Head: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Ahmed Zakaria</a:t>
            </a:r>
            <a:r>
              <a:rPr lang="en-US" sz="12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8144324-64D0-4EC5-895D-F5B4908D9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668" y="964206"/>
            <a:ext cx="1033692" cy="1165650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E5137A9-F1D8-4B5B-B812-03787F672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067" y="962406"/>
            <a:ext cx="1068246" cy="1165650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8301F63-EF5A-4F08-96DC-E93C1EDEC8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2737" y="968270"/>
            <a:ext cx="1113425" cy="1161586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4E59BEA-5EB5-479D-A6A6-32A0EE0D3B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880" y="975509"/>
            <a:ext cx="1112520" cy="1127992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Text 7"/>
          <p:cNvSpPr/>
          <p:nvPr/>
        </p:nvSpPr>
        <p:spPr>
          <a:xfrm>
            <a:off x="7265670" y="2125831"/>
            <a:ext cx="1463040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Alaa</a:t>
            </a: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Hussien</a:t>
            </a: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Mohamed</a:t>
            </a:r>
            <a:endParaRPr lang="ar-EG" sz="1100" b="1" dirty="0">
              <a:solidFill>
                <a:srgbClr val="1A2D5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241540" y="296219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ar-EG" sz="90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ar-EG" sz="9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Web Scraping, EDA, ML Model Development, Data Cleaning, and Documentation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2684ABE-6B35-486B-931F-EF76D3A6D73A}"/>
              </a:ext>
            </a:extLst>
          </p:cNvPr>
          <p:cNvSpPr/>
          <p:nvPr/>
        </p:nvSpPr>
        <p:spPr>
          <a:xfrm>
            <a:off x="7240036" y="2651760"/>
            <a:ext cx="153439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Data Engineer &amp; AI Specialist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Core Problem: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Structural mismatch between pre-university/academic learning outcomes and real-world freelance market skill demands.</a:t>
            </a:r>
          </a:p>
          <a:p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Key Challenges:</a:t>
            </a:r>
          </a:p>
          <a:p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Skill Misalignment: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Difficulty evaluating skills based on true market demand versus talent saturation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Market Friction &amp; Competition: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High job counts don't equal real opportunities when competition is intense.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Pricing &amp; Wage Ambiguity: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Lack of objective benchmarks for setting accurate hourly/project rates.</a:t>
            </a:r>
          </a:p>
          <a:p>
            <a:pPr lvl="1"/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Why Solve It Now?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To empower Egyptian youth, optimize national IT training investments, and reduce proposal friction for remote digital talent. </a:t>
            </a:r>
          </a:p>
          <a:p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 &amp; Project Scope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Shape 3"/>
              <p:cNvSpPr/>
              <p:nvPr/>
            </p:nvSpPr>
            <p:spPr>
              <a:xfrm>
                <a:off x="256032" y="841248"/>
                <a:ext cx="4160520" cy="384048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B0BEC5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Objective 1: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</a:rPr>
                  <a:t> Build an end-to-end BI pipeline integrating 100K+ freelance job records.</a:t>
                </a:r>
              </a:p>
              <a:p>
                <a:endParaRPr 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Objective 2: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</a:rPr>
                  <a:t> Measure Skill Demand/Supply gaps using advanced DAX metrics and KPI frameworks.</a:t>
                </a:r>
              </a:p>
              <a:p>
                <a:endParaRPr 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Objective 3: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</a:rPr>
                  <a:t> Implement the </a:t>
                </a:r>
                <a:r>
                  <a:rPr lang="en-US" sz="1400" i="1" dirty="0">
                    <a:solidFill>
                      <a:schemeClr val="accent1">
                        <a:lumMod val="50000"/>
                      </a:schemeClr>
                    </a:solidFill>
                  </a:rPr>
                  <a:t>Diamond Skills Finder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</a:rPr>
                  <a:t> to highlight high-value, low-competition skills.</a:t>
                </a:r>
              </a:p>
              <a:p>
                <a:endParaRPr 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Objective 4: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</a:rPr>
                  <a:t> Develop an ML CatBoost Salary Predictor achieving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4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</a:rPr>
                  <a:t> &gt;= 0.68 for hourly rate estimation.</a:t>
                </a:r>
              </a:p>
            </p:txBody>
          </p:sp>
        </mc:Choice>
        <mc:Fallback>
          <p:sp>
            <p:nvSpPr>
              <p:cNvPr id="6" name="Shap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841248"/>
                <a:ext cx="4160520" cy="3840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solidFill>
                  <a:srgbClr val="B0BEC5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Objectives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207008"/>
            <a:ext cx="384048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27448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400" b="1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Data Extraction (Web Scraping) and ETL Processing using Python &amp; Pandas.</a:t>
            </a:r>
          </a:p>
          <a:p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Relational Star Schema Data Modeling and interactive Power BI dashboards.</a:t>
            </a:r>
          </a:p>
          <a:p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Machine Learning Wage Prediction Engine (CatBoost Regressor) deployed via 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FastAPI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Multi-Stakeholder Intelligence (MCIT, Education Ministries, Academies, Freelancers). </a:t>
            </a:r>
          </a:p>
        </p:txBody>
      </p:sp>
      <p:sp>
        <p:nvSpPr>
          <p:cNvPr id="12" name="Shape 9"/>
          <p:cNvSpPr/>
          <p:nvPr/>
        </p:nvSpPr>
        <p:spPr>
          <a:xfrm>
            <a:off x="4727448" y="841248"/>
            <a:ext cx="64008" cy="384048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What’s In Scope</a:t>
            </a:r>
          </a:p>
        </p:txBody>
      </p:sp>
      <p:sp>
        <p:nvSpPr>
          <p:cNvPr id="14" name="Shape 11"/>
          <p:cNvSpPr/>
          <p:nvPr/>
        </p:nvSpPr>
        <p:spPr>
          <a:xfrm>
            <a:off x="4892040" y="1207008"/>
            <a:ext cx="3840480" cy="228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200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854964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System Overview: SkillBridge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– An integrated Data Analytics, Business Intelligence, and Machine Learning Framework connecting Education         Skills        Market Demand         Earning Potential.</a:t>
            </a:r>
          </a:p>
          <a:p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Core Capabilities:</a:t>
            </a:r>
          </a:p>
          <a:p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Market &amp; Skill Intelligence: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Real-time visibility into hiring trends, applicant density, and skill saturation.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Diamond Skills Finder: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Identifies high-margin technical skills with low market competition.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ML Pricing Engine: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Predicts accurate market-driven hourly rates based on project attributes.</a:t>
            </a:r>
          </a:p>
          <a:p>
            <a:pPr lvl="1"/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Unique Value Proposition: Bridges academic/initiative training outcomes with empirical freelance market metrics to optimize curriculum ROI.</a:t>
            </a:r>
          </a:p>
        </p:txBody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10FFA1-D6C3-42AB-BD9E-7B5E32606F85}"/>
              </a:ext>
            </a:extLst>
          </p:cNvPr>
          <p:cNvCxnSpPr/>
          <p:nvPr/>
        </p:nvCxnSpPr>
        <p:spPr>
          <a:xfrm>
            <a:off x="3145098" y="1448042"/>
            <a:ext cx="243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456373-2A6A-4DBD-BE3D-0DB9890099CC}"/>
              </a:ext>
            </a:extLst>
          </p:cNvPr>
          <p:cNvCxnSpPr/>
          <p:nvPr/>
        </p:nvCxnSpPr>
        <p:spPr>
          <a:xfrm>
            <a:off x="3877518" y="1448042"/>
            <a:ext cx="243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DDE4CC-B325-4E93-8936-4B4255943151}"/>
              </a:ext>
            </a:extLst>
          </p:cNvPr>
          <p:cNvCxnSpPr>
            <a:cxnSpLocks/>
          </p:cNvCxnSpPr>
          <p:nvPr/>
        </p:nvCxnSpPr>
        <p:spPr>
          <a:xfrm>
            <a:off x="5369288" y="1448042"/>
            <a:ext cx="2430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864108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274320" y="868680"/>
            <a:ext cx="8595360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Architecture Diagram Here ]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High-level component diagram showing frontend, backend, database,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apis, ML models, data pipelines, cloud services, or security layers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A4AC8AC-F156-4970-9995-A4AFA0DDE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813816"/>
            <a:ext cx="8759952" cy="36941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8686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68680"/>
            <a:ext cx="2743200" cy="384048"/>
          </a:xfrm>
          <a:prstGeom prst="rect">
            <a:avLst/>
          </a:prstGeom>
          <a:solidFill>
            <a:srgbClr val="1E5CA8"/>
          </a:solidFill>
          <a:ln w="12700">
            <a:solidFill>
              <a:srgbClr val="1E5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86868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128930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Power BI Embedded / Dashboards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FastAPI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Web UI / HTML5</a:t>
            </a:r>
          </a:p>
        </p:txBody>
      </p:sp>
      <p:sp>
        <p:nvSpPr>
          <p:cNvPr id="10" name="Shape 7"/>
          <p:cNvSpPr/>
          <p:nvPr/>
        </p:nvSpPr>
        <p:spPr>
          <a:xfrm>
            <a:off x="3200400" y="8686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868680"/>
            <a:ext cx="2743200" cy="384048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73552" y="86868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73552" y="128930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Python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FastAPI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Uvicorn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Pandas &amp; NumPy</a:t>
            </a:r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Power BI Tabular Data Model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Structured Data Tables(Excel)</a:t>
            </a:r>
          </a:p>
        </p:txBody>
      </p:sp>
      <p:sp>
        <p:nvSpPr>
          <p:cNvPr id="15" name="Shape 12"/>
          <p:cNvSpPr/>
          <p:nvPr/>
        </p:nvSpPr>
        <p:spPr>
          <a:xfrm>
            <a:off x="6126480" y="868680"/>
            <a:ext cx="2743200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9632" y="86868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99632" y="128930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788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788920"/>
            <a:ext cx="2743200" cy="38404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" y="27889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ML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47472" y="320954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CatBoost Regressor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Scikit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-Learn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Joblib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(Model Serialization &amp; Deployment) </a:t>
            </a:r>
          </a:p>
        </p:txBody>
      </p:sp>
      <p:sp>
        <p:nvSpPr>
          <p:cNvPr id="22" name="Shape 19"/>
          <p:cNvSpPr/>
          <p:nvPr/>
        </p:nvSpPr>
        <p:spPr>
          <a:xfrm>
            <a:off x="3200400" y="2788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0" y="2788920"/>
            <a:ext cx="2743200" cy="384048"/>
          </a:xfrm>
          <a:prstGeom prst="rect">
            <a:avLst/>
          </a:prstGeom>
          <a:solidFill>
            <a:srgbClr val="7986CB"/>
          </a:solidFill>
          <a:ln w="12700">
            <a:solidFill>
              <a:srgbClr val="7986C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73552" y="27889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&amp; DevOps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73552" y="320954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GitHub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Power BI Service</a:t>
            </a:r>
          </a:p>
        </p:txBody>
      </p:sp>
      <p:sp>
        <p:nvSpPr>
          <p:cNvPr id="26" name="Shape 23"/>
          <p:cNvSpPr/>
          <p:nvPr/>
        </p:nvSpPr>
        <p:spPr>
          <a:xfrm>
            <a:off x="6126480" y="2788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26480" y="2788920"/>
            <a:ext cx="2743200" cy="3840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99632" y="27889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199632" y="320954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Pydantic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Validation</a:t>
            </a:r>
          </a:p>
        </p:txBody>
      </p:sp>
      <p:sp>
        <p:nvSpPr>
          <p:cNvPr id="30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Requirements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Requirements</a:t>
            </a:r>
          </a:p>
        </p:txBody>
      </p:sp>
      <p:sp>
        <p:nvSpPr>
          <p:cNvPr id="9" name="Shape 6"/>
          <p:cNvSpPr/>
          <p:nvPr/>
        </p:nvSpPr>
        <p:spPr>
          <a:xfrm>
            <a:off x="411480" y="1207008"/>
            <a:ext cx="384048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FR1: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Extract, clean, and model freelance data across categories, countries, and platforms. 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FR2: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Dynamically compute Demand-Supply Ratios, Skill Gaps, and Competition Indices.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FR3: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Provide interactive dashboards with cross-filtering for strategic decision support. 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FR4: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Predict expected hourly rates based on pre-publication job features. </a:t>
            </a:r>
          </a:p>
        </p:txBody>
      </p:sp>
      <p:sp>
        <p:nvSpPr>
          <p:cNvPr id="11" name="Shape 8"/>
          <p:cNvSpPr/>
          <p:nvPr/>
        </p:nvSpPr>
        <p:spPr>
          <a:xfrm>
            <a:off x="4727448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841248"/>
            <a:ext cx="64008" cy="384048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Non-Functional Requirements</a:t>
            </a:r>
          </a:p>
        </p:txBody>
      </p:sp>
      <p:sp>
        <p:nvSpPr>
          <p:cNvPr id="14" name="Shape 11"/>
          <p:cNvSpPr/>
          <p:nvPr/>
        </p:nvSpPr>
        <p:spPr>
          <a:xfrm>
            <a:off x="4892040" y="1207008"/>
            <a:ext cx="3840480" cy="228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Performance: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Fast dashboard rendering and sub-second API prediction response time.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Methodological Integrity: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Complete exclusion of post-publication variables (e.g., Applicants Count) to prevent Data Leakage.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Scalability: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Robust architecture supporting 100K+ records and extensible data sources. </a:t>
            </a:r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/ Use Case Diagram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864108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274320" y="868680"/>
            <a:ext cx="8595360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Workflow Diagram or Use Case Diagram Here ]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main actors, system interactions, and process flow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(BPMN / UML Use Case / Sequence Diagram)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4F83859-14FE-4CD6-A50C-726B28644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806958"/>
            <a:ext cx="8759952" cy="34952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47472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/ Demo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[Insert UI screenshot or demo image here]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18888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/ Demo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[Insert UI screenshot or demo image here]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highlights from the demo: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" y="3908329"/>
            <a:ext cx="4114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Rate Predictor: User-friendly UI estimating fair market hourly rates using CatBoost ML.</a:t>
            </a:r>
          </a:p>
        </p:txBody>
      </p:sp>
      <p:sp>
        <p:nvSpPr>
          <p:cNvPr id="12" name="Text 9"/>
          <p:cNvSpPr/>
          <p:nvPr/>
        </p:nvSpPr>
        <p:spPr>
          <a:xfrm>
            <a:off x="4727448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 Link / QR Code: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38930" y="402336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spcAft>
                <a:spcPts val="500"/>
              </a:spcAft>
              <a:buSzPct val="100000"/>
            </a:pPr>
            <a:r>
              <a:rPr lang="en-US" sz="10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https://github.com/esraasalem2/skill-Bridge-</a:t>
            </a:r>
            <a:endParaRPr lang="en-US" sz="1000" i="1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480419-B3A6-4F55-ADC8-9C090D878B5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427" r="19420"/>
          <a:stretch/>
        </p:blipFill>
        <p:spPr>
          <a:xfrm>
            <a:off x="256032" y="823691"/>
            <a:ext cx="4225290" cy="29116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12AC08F-DA02-411E-842D-C5C36D0E09D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514" r="19098"/>
          <a:stretch/>
        </p:blipFill>
        <p:spPr>
          <a:xfrm>
            <a:off x="4675379" y="823690"/>
            <a:ext cx="4316222" cy="29116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47472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/ Demo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[Insert UI screenshot or demo image here]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18888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/ Demo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[Insert UI screenshot or demo image here]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highlights from the demo: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0896" y="3977640"/>
            <a:ext cx="4114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Intelligence Overview: Comprehensive analysis of 111K+ jobs, platforms, and client geographies.</a:t>
            </a:r>
            <a:endParaRPr lang="ar-EG" sz="1000" i="1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Gap &amp; Diamond Skills Finder: Dynamic filtering pinpointing high-earning, low-competition skill sets.</a:t>
            </a:r>
          </a:p>
        </p:txBody>
      </p:sp>
      <p:sp>
        <p:nvSpPr>
          <p:cNvPr id="12" name="Text 9"/>
          <p:cNvSpPr/>
          <p:nvPr/>
        </p:nvSpPr>
        <p:spPr>
          <a:xfrm>
            <a:off x="4727448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 Link / QR Code: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54296" y="39319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>
              <a:spcAft>
                <a:spcPts val="500"/>
              </a:spcAft>
              <a:buSzPct val="100000"/>
            </a:pPr>
            <a:r>
              <a:rPr lang="en-US" sz="10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https://github.com/esraasalem2/skill-Bridge-</a:t>
            </a:r>
            <a:endParaRPr lang="en-US" sz="1000" i="1" dirty="0">
              <a:solidFill>
                <a:srgbClr val="1E5C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E574DE3-1DAB-4EE2-B6D4-95A6970EA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75" y="819074"/>
            <a:ext cx="4223065" cy="29116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2C46628-A337-4368-B7B9-DC84AF1AF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806609"/>
            <a:ext cx="4476820" cy="29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93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418BBD-5847-4425-B089-A51445FBA5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5" t="1423" r="1012" b="1217"/>
          <a:stretch/>
        </p:blipFill>
        <p:spPr>
          <a:xfrm>
            <a:off x="0" y="0"/>
            <a:ext cx="918114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30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Impact &amp; Innovation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Empirical Educational ROI: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Connects pre-university (K-12) &amp; initiative training with real acceptance rates.</a:t>
            </a:r>
          </a:p>
          <a:p>
            <a:pPr>
              <a:spcAft>
                <a:spcPts val="600"/>
              </a:spcAft>
              <a:buSzPct val="100000"/>
            </a:pP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Objective Wage Standardization: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Prevents price undercutting for beginner freelancers. </a:t>
            </a:r>
          </a:p>
          <a:p>
            <a:pPr>
              <a:spcAft>
                <a:spcPts val="600"/>
              </a:spcAft>
              <a:buSzPct val="100000"/>
            </a:pP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Strategic Alignment with Egypt Vision 2030: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Supports national digital transformation, youth employment, and remote workforce readiness.</a:t>
            </a:r>
          </a:p>
          <a:p>
            <a:pPr>
              <a:spcAft>
                <a:spcPts val="600"/>
              </a:spcAft>
              <a:buSzPct val="100000"/>
            </a:pP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Multi-Stakeholder Value: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Serves MCIT, Ministries, EdTech Academies, and Job Seekers simultaneously.</a:t>
            </a:r>
          </a:p>
          <a:p>
            <a:pPr>
              <a:spcAft>
                <a:spcPts val="600"/>
              </a:spcAft>
              <a:buSzPct val="100000"/>
            </a:pPr>
            <a:endParaRPr lang="en-US" sz="1400" dirty="0"/>
          </a:p>
          <a:p>
            <a:pPr>
              <a:spcAft>
                <a:spcPts val="600"/>
              </a:spcAft>
              <a:buSzPct val="100000"/>
            </a:pP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</a:ln>
        </p:spPr>
      </p:sp>
      <p:sp>
        <p:nvSpPr>
          <p:cNvPr id="3" name="TitleBar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</a:rPr>
              <a:t>Future Work</a:t>
            </a:r>
          </a:p>
        </p:txBody>
      </p:sp>
      <p:pic>
        <p:nvPicPr>
          <p:cNvPr id="5" name="Log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10" name="CardA"/>
          <p:cNvSpPr/>
          <p:nvPr/>
        </p:nvSpPr>
        <p:spPr>
          <a:xfrm>
            <a:off x="256032" y="987552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CardAAccent"/>
          <p:cNvSpPr/>
          <p:nvPr/>
        </p:nvSpPr>
        <p:spPr>
          <a:xfrm>
            <a:off x="256032" y="987552"/>
            <a:ext cx="2743200" cy="54864"/>
          </a:xfrm>
          <a:prstGeom prst="rect">
            <a:avLst/>
          </a:prstGeom>
          <a:solidFill>
            <a:srgbClr val="00AEEF"/>
          </a:solidFill>
          <a:ln w="0">
            <a:noFill/>
          </a:ln>
        </p:spPr>
      </p:sp>
      <p:sp>
        <p:nvSpPr>
          <p:cNvPr id="12" name="CardAText"/>
          <p:cNvSpPr/>
          <p:nvPr/>
        </p:nvSpPr>
        <p:spPr>
          <a:xfrm>
            <a:off x="301752" y="1005840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EEF"/>
                </a:solidFill>
                <a:latin typeface="Calibri" panose="020F0502020204030204" pitchFamily="34" charset="0"/>
              </a:rPr>
              <a:t>Performance &amp; Optimization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Build a skill-based recommendation engine to rank jobs by user compatibility.</a:t>
            </a:r>
            <a:endParaRPr lang="ar-EG" sz="1050" dirty="0">
              <a:solidFill>
                <a:schemeClr val="accent1">
                  <a:lumMod val="50000"/>
                </a:schemeClr>
              </a:solidFill>
            </a:endParaRPr>
          </a:p>
          <a:p>
            <a:pPr marL="228600" indent="-228600">
              <a:spcBef>
                <a:spcPts val="400"/>
              </a:spcBef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Aggregate live multi-platform job listings into a single centralized interface.</a:t>
            </a:r>
          </a:p>
        </p:txBody>
      </p:sp>
      <p:sp>
        <p:nvSpPr>
          <p:cNvPr id="20" name="CardB"/>
          <p:cNvSpPr/>
          <p:nvPr/>
        </p:nvSpPr>
        <p:spPr>
          <a:xfrm>
            <a:off x="3108456" y="987552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CardBAccent"/>
          <p:cNvSpPr/>
          <p:nvPr/>
        </p:nvSpPr>
        <p:spPr>
          <a:xfrm>
            <a:off x="3108456" y="987552"/>
            <a:ext cx="2743200" cy="54864"/>
          </a:xfrm>
          <a:prstGeom prst="rect">
            <a:avLst/>
          </a:prstGeom>
          <a:solidFill>
            <a:srgbClr val="1E5CA8"/>
          </a:solidFill>
          <a:ln w="0">
            <a:noFill/>
          </a:ln>
        </p:spPr>
      </p:sp>
      <p:sp>
        <p:nvSpPr>
          <p:cNvPr id="22" name="CardBText"/>
          <p:cNvSpPr/>
          <p:nvPr/>
        </p:nvSpPr>
        <p:spPr>
          <a:xfrm>
            <a:off x="3154176" y="1005840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</a:rPr>
              <a:t>Feature Enhancement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Implement personalized skill-gap analysis and customized learning pathways. 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Develop a Freelancing Knowledge Center with practical guidebooks and proposal tips. </a:t>
            </a:r>
          </a:p>
        </p:txBody>
      </p:sp>
      <p:sp>
        <p:nvSpPr>
          <p:cNvPr id="30" name="CardC"/>
          <p:cNvSpPr/>
          <p:nvPr/>
        </p:nvSpPr>
        <p:spPr>
          <a:xfrm>
            <a:off x="5960880" y="987552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CardCAccent"/>
          <p:cNvSpPr/>
          <p:nvPr/>
        </p:nvSpPr>
        <p:spPr>
          <a:xfrm>
            <a:off x="5960880" y="987552"/>
            <a:ext cx="2743200" cy="54864"/>
          </a:xfrm>
          <a:prstGeom prst="rect">
            <a:avLst/>
          </a:prstGeom>
          <a:solidFill>
            <a:srgbClr val="C8A84B"/>
          </a:solidFill>
          <a:ln w="0">
            <a:noFill/>
          </a:ln>
        </p:spPr>
      </p:sp>
      <p:sp>
        <p:nvSpPr>
          <p:cNvPr id="32" name="CardCText"/>
          <p:cNvSpPr/>
          <p:nvPr/>
        </p:nvSpPr>
        <p:spPr>
          <a:xfrm>
            <a:off x="6006600" y="1005840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84B"/>
                </a:solidFill>
                <a:latin typeface="Calibri" panose="020F0502020204030204" pitchFamily="34" charset="0"/>
              </a:rPr>
              <a:t>Testing &amp; Validation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Evaluate skill-matching accuracy against real-world user application success. 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Pilot testing with first-time freelancers to refine platform-specific guidance. </a:t>
            </a:r>
          </a:p>
        </p:txBody>
      </p:sp>
      <p:sp>
        <p:nvSpPr>
          <p:cNvPr id="40" name="CardD"/>
          <p:cNvSpPr/>
          <p:nvPr/>
        </p:nvSpPr>
        <p:spPr>
          <a:xfrm>
            <a:off x="256032" y="2706624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CardDAccent"/>
          <p:cNvSpPr/>
          <p:nvPr/>
        </p:nvSpPr>
        <p:spPr>
          <a:xfrm>
            <a:off x="256032" y="2706624"/>
            <a:ext cx="2743200" cy="54864"/>
          </a:xfrm>
          <a:prstGeom prst="rect">
            <a:avLst/>
          </a:prstGeom>
          <a:solidFill>
            <a:srgbClr val="3A8FD4"/>
          </a:solidFill>
          <a:ln w="0">
            <a:noFill/>
          </a:ln>
        </p:spPr>
      </p:sp>
      <p:sp>
        <p:nvSpPr>
          <p:cNvPr id="42" name="CardDText"/>
          <p:cNvSpPr/>
          <p:nvPr/>
        </p:nvSpPr>
        <p:spPr>
          <a:xfrm>
            <a:off x="301752" y="2724912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8FD4"/>
                </a:solidFill>
                <a:latin typeface="Calibri" panose="020F0502020204030204" pitchFamily="34" charset="0"/>
              </a:rPr>
              <a:t>Integration &amp; Deployment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Connect with MCIT, government, and academy APIs for direct course/scholarship alignment. 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Integrate job board APIs for real-time remote project aggregation.</a:t>
            </a:r>
          </a:p>
        </p:txBody>
      </p:sp>
      <p:sp>
        <p:nvSpPr>
          <p:cNvPr id="50" name="CardE"/>
          <p:cNvSpPr/>
          <p:nvPr/>
        </p:nvSpPr>
        <p:spPr>
          <a:xfrm>
            <a:off x="3108456" y="2706624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CardEAccent"/>
          <p:cNvSpPr/>
          <p:nvPr/>
        </p:nvSpPr>
        <p:spPr>
          <a:xfrm>
            <a:off x="3108456" y="2706624"/>
            <a:ext cx="2743200" cy="54864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</p:sp>
      <p:sp>
        <p:nvSpPr>
          <p:cNvPr id="52" name="CardEText"/>
          <p:cNvSpPr/>
          <p:nvPr/>
        </p:nvSpPr>
        <p:spPr>
          <a:xfrm>
            <a:off x="3154176" y="2724912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  <a:latin typeface="Calibri" panose="020F0502020204030204" pitchFamily="34" charset="0"/>
              </a:rPr>
              <a:t>Scale &amp; Wider Reach</a:t>
            </a:r>
          </a:p>
          <a:p>
            <a:pPr marL="228600" indent="-228600" algn="l">
              <a:spcBef>
                <a:spcPts val="4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Evolve into an end-to-end ecosystem: </a:t>
            </a:r>
          </a:p>
          <a:p>
            <a:pPr algn="l">
              <a:spcBef>
                <a:spcPts val="400"/>
              </a:spcBef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         Skills           Gaps          Training         Jobs</a:t>
            </a:r>
          </a:p>
        </p:txBody>
      </p:sp>
      <p:sp>
        <p:nvSpPr>
          <p:cNvPr id="60" name="CardF"/>
          <p:cNvSpPr/>
          <p:nvPr/>
        </p:nvSpPr>
        <p:spPr>
          <a:xfrm>
            <a:off x="5960880" y="2706624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CardFAccent"/>
          <p:cNvSpPr/>
          <p:nvPr/>
        </p:nvSpPr>
        <p:spPr>
          <a:xfrm>
            <a:off x="5960880" y="2706624"/>
            <a:ext cx="2743200" cy="54864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</p:sp>
      <p:sp>
        <p:nvSpPr>
          <p:cNvPr id="62" name="CardFText"/>
          <p:cNvSpPr/>
          <p:nvPr/>
        </p:nvSpPr>
        <p:spPr>
          <a:xfrm>
            <a:off x="6006600" y="2724912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</a:rPr>
              <a:t>Research &amp; Impact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Measure market readiness improvements and Freelancer income growth metrics. </a:t>
            </a:r>
          </a:p>
          <a:p>
            <a:pPr marL="228600" indent="-228600">
              <a:spcBef>
                <a:spcPts val="400"/>
              </a:spcBef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Publish empirical studies on Egyptian digital labor market skill-supply gaps. </a:t>
            </a:r>
          </a:p>
        </p:txBody>
      </p:sp>
      <p:sp>
        <p:nvSpPr>
          <p:cNvPr id="70" name="FooterBa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</a:ln>
        </p:spPr>
      </p:sp>
      <p:sp>
        <p:nvSpPr>
          <p:cNvPr id="71" name="FooterText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</a:rPr>
              <a:t>DiGiLiANS — Digital Pioneers Initiative  |  Capstone Project Defense 2026</a:t>
            </a:r>
          </a:p>
        </p:txBody>
      </p:sp>
      <p:sp>
        <p:nvSpPr>
          <p:cNvPr id="72" name="FooterNum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</a:rPr>
              <a:t>15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BBC950-8D30-437B-BAC3-8E4CAF94AC31}"/>
              </a:ext>
            </a:extLst>
          </p:cNvPr>
          <p:cNvCxnSpPr/>
          <p:nvPr/>
        </p:nvCxnSpPr>
        <p:spPr>
          <a:xfrm>
            <a:off x="3802866" y="3317439"/>
            <a:ext cx="2204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F2ADE7-406B-4178-8172-A89AF883F09B}"/>
              </a:ext>
            </a:extLst>
          </p:cNvPr>
          <p:cNvCxnSpPr/>
          <p:nvPr/>
        </p:nvCxnSpPr>
        <p:spPr>
          <a:xfrm>
            <a:off x="4343400" y="3317439"/>
            <a:ext cx="2204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D22D607-E500-4591-9535-52C16F5DA686}"/>
              </a:ext>
            </a:extLst>
          </p:cNvPr>
          <p:cNvCxnSpPr/>
          <p:nvPr/>
        </p:nvCxnSpPr>
        <p:spPr>
          <a:xfrm>
            <a:off x="5051249" y="3317746"/>
            <a:ext cx="2204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Contributions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Esraa</a:t>
            </a:r>
            <a:r>
              <a:rPr lang="en-US" sz="14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Metwally</a:t>
            </a:r>
            <a:r>
              <a:rPr lang="en-US" sz="14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Abo </a:t>
            </a:r>
            <a:r>
              <a:rPr lang="en-US" sz="14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Elnasr</a:t>
            </a:r>
            <a:r>
              <a:rPr lang="en-US" sz="14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Project Management, Dashboard Development, Presentation, and Reporting.</a:t>
            </a:r>
          </a:p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Fatma Ibrahim </a:t>
            </a:r>
            <a:r>
              <a:rPr lang="en-US" sz="14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Morsy</a:t>
            </a:r>
            <a:r>
              <a:rPr lang="en-US" sz="1400" b="1" dirty="0"/>
              <a:t>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Interface Design, Dashboard Layout, and Visual Analytics.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Rasha</a:t>
            </a:r>
            <a:r>
              <a:rPr lang="en-US" sz="14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Wael Ramadan</a:t>
            </a:r>
            <a:r>
              <a:rPr lang="en-US" sz="1400" b="1" dirty="0"/>
              <a:t>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Data Preparation, Power BI Modeling, DAX Measures, and Documentation.</a:t>
            </a:r>
          </a:p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Alaa</a:t>
            </a:r>
            <a:r>
              <a:rPr lang="en-US" sz="14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b="1" dirty="0" err="1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Hussien</a:t>
            </a:r>
            <a:r>
              <a:rPr lang="en-US" sz="14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Mohamed 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Web Scraping, EDA, ML Model Development, Data Cleaning, and Documentation.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 &amp; Resources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&amp; Technical References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207008"/>
            <a:ext cx="384048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World Bank</a:t>
            </a:r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(2023)</a:t>
            </a: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. Working Without Borders: The Promise and Peril of Online Gig Work. </a:t>
            </a:r>
            <a:endParaRPr lang="ar-EG" sz="105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World Economic Forum</a:t>
            </a:r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(2023). </a:t>
            </a: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The Future of Jobs Report. </a:t>
            </a:r>
            <a:endParaRPr lang="ar-EG" sz="105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European Commission / Eurydice</a:t>
            </a:r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(2022). </a:t>
            </a: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Informatics Education in Schools across Europe. </a:t>
            </a:r>
            <a:endParaRPr lang="ar-EG" sz="105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Stephany, F., et al. </a:t>
            </a:r>
            <a:r>
              <a:rPr lang="en-US" sz="900" dirty="0">
                <a:solidFill>
                  <a:schemeClr val="accent1">
                    <a:lumMod val="50000"/>
                  </a:schemeClr>
                </a:solidFill>
              </a:rPr>
              <a:t>(2021). </a:t>
            </a: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Online </a:t>
            </a:r>
            <a:r>
              <a:rPr lang="en-US" sz="1050" dirty="0" err="1">
                <a:solidFill>
                  <a:schemeClr val="accent1">
                    <a:lumMod val="50000"/>
                  </a:schemeClr>
                </a:solidFill>
              </a:rPr>
              <a:t>Labour</a:t>
            </a: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 Index: Tracking the Online Gig Economy. ILO &amp; Oxford Internet Institute.</a:t>
            </a:r>
          </a:p>
        </p:txBody>
      </p:sp>
      <p:sp>
        <p:nvSpPr>
          <p:cNvPr id="11" name="Shape 8"/>
          <p:cNvSpPr/>
          <p:nvPr/>
        </p:nvSpPr>
        <p:spPr>
          <a:xfrm>
            <a:off x="4727448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841248"/>
            <a:ext cx="64008" cy="384048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Tools, Datasets &amp; Repositories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92040" y="1207008"/>
            <a:ext cx="3840480" cy="228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GitHub Repository: </a:t>
            </a:r>
          </a:p>
          <a:p>
            <a:pPr algn="ctr">
              <a:spcAft>
                <a:spcPts val="500"/>
              </a:spcAft>
              <a:buSzPct val="100000"/>
            </a:pPr>
            <a:r>
              <a:rPr lang="en-US" sz="1050" dirty="0">
                <a:solidFill>
                  <a:schemeClr val="accent1">
                    <a:lumMod val="50000"/>
                  </a:schemeClr>
                </a:solidFill>
                <a:hlinkClick r:id="rId4"/>
              </a:rPr>
              <a:t>https://github.com/esraasalem2/skill-Bridge-</a:t>
            </a:r>
            <a:endParaRPr lang="en-US" sz="10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"/>
            <a:ext cx="822960" cy="8229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37160"/>
            <a:ext cx="1188720" cy="10058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28600"/>
            <a:ext cx="1371600" cy="7315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28600" y="1234440"/>
            <a:ext cx="8686800" cy="228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274320" y="1601470"/>
            <a:ext cx="8595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274320" y="2331720"/>
            <a:ext cx="8595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solidFill>
            <a:srgbClr val="0D1F3F"/>
          </a:solidFill>
          <a:ln w="1016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11" name="Shape 6"/>
          <p:cNvSpPr/>
          <p:nvPr/>
        </p:nvSpPr>
        <p:spPr>
          <a:xfrm>
            <a:off x="1371600" y="2926080"/>
            <a:ext cx="64008" cy="13716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554480" y="2980944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Name:      LexiTech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554480" y="340156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Track:               Data Analytics Track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554480" y="3822192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/ Demo: </a:t>
            </a:r>
            <a:r>
              <a:rPr lang="en-US" sz="1100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https://github.com/esraasalem2/skill-Bridge-</a:t>
            </a:r>
            <a:endParaRPr lang="en-US" sz="1100" dirty="0">
              <a:solidFill>
                <a:srgbClr val="00AEE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2FCE638-3844-4EA7-BAB5-7C9944AAA0E3}">
  <we:reference id="wa200006214" version="2.1.0.1" store="en-US" storeType="OMEX"/>
  <we:alternateReferences>
    <we:reference id="WA200006214" version="2.1.0.1" store="WA20000621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1485</Words>
  <Application>Microsoft Office PowerPoint</Application>
  <PresentationFormat>On-screen Show (16:9)</PresentationFormat>
  <Paragraphs>267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Presentation Template</dc:title>
  <dc:subject>PptxGenJS Presentation</dc:subject>
  <dc:creator>DiGiLiANS</dc:creator>
  <cp:lastModifiedBy>A-FF-L4-D10@DIGI.LOCAL</cp:lastModifiedBy>
  <cp:revision>33</cp:revision>
  <dcterms:created xsi:type="dcterms:W3CDTF">2026-06-07T13:30:00Z</dcterms:created>
  <dcterms:modified xsi:type="dcterms:W3CDTF">2026-09-12T15:12:13Z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B353FF1D6D0E4D418372BC5CD770DCBE_12</vt:lpwstr>
  </property>
  <property fmtid="{D5CDD505-2E9C-101B-9397-08002B2CF9AE}" pid="3" name="KSOProductBuildVer">
    <vt:lpwstr>2057-12.2.0.23202</vt:lpwstr>
  </property>
</Properties>
</file>